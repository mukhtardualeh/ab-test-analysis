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Cambria" panose="02040503050406030204" pitchFamily="18" charset="0"/>
      <p:regular r:id="rId9"/>
      <p:bold r:id="rId10"/>
      <p:italic r:id="rId11"/>
      <p:boldItalic r:id="rId12"/>
    </p:embeddedFont>
    <p:embeddedFont>
      <p:font typeface="Open Sans" panose="020B0606030504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E69884-2A00-4C6D-98CB-298E58299215}">
  <a:tblStyle styleId="{FBE69884-2A00-4C6D-98CB-298E582992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7"/>
  </p:normalViewPr>
  <p:slideViewPr>
    <p:cSldViewPr snapToGrid="0">
      <p:cViewPr varScale="1">
        <p:scale>
          <a:sx n="156" d="100"/>
          <a:sy n="156" d="100"/>
        </p:scale>
        <p:origin x="176" y="4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1f18ce3f467_0_2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1f18ce3f467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1f18ce3f467_0_105: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g1f18ce3f467_0_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f18ce3f467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f18ce3f467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f18ce3f467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f18ce3f467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f18ce3f467_0_2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f18ce3f467_0_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f18ce3f467_0_2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f18ce3f467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cSld name="TITLE_1">
    <p:spTree>
      <p:nvGrpSpPr>
        <p:cNvPr id="1"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52" name="Google Shape;52;p13"/>
          <p:cNvSpPr txBox="1">
            <a:spLocks noGrp="1"/>
          </p:cNvSpPr>
          <p:nvPr>
            <p:ph type="title"/>
          </p:nvPr>
        </p:nvSpPr>
        <p:spPr>
          <a:xfrm>
            <a:off x="457200" y="834727"/>
            <a:ext cx="8229600" cy="1389300"/>
          </a:xfrm>
          <a:prstGeom prst="rect">
            <a:avLst/>
          </a:prstGeom>
          <a:noFill/>
          <a:ln>
            <a:noFill/>
          </a:ln>
        </p:spPr>
        <p:txBody>
          <a:bodyPr spcFirstLastPara="1" wrap="square" lIns="91425" tIns="91425" rIns="91425" bIns="91425" anchor="b" anchorCtr="0">
            <a:normAutofit/>
          </a:bodyPr>
          <a:lstStyle>
            <a:lvl1pPr marL="0" marR="0" lvl="0" indent="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3" name="Google Shape;53;p13"/>
          <p:cNvSpPr txBox="1">
            <a:spLocks noGrp="1"/>
          </p:cNvSpPr>
          <p:nvPr>
            <p:ph type="body" idx="1"/>
          </p:nvPr>
        </p:nvSpPr>
        <p:spPr>
          <a:xfrm>
            <a:off x="457200" y="2195513"/>
            <a:ext cx="5038800" cy="10035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31250"/>
              </a:lnSpc>
              <a:spcBef>
                <a:spcPts val="0"/>
              </a:spcBef>
              <a:spcAft>
                <a:spcPts val="0"/>
              </a:spcAft>
              <a:buClr>
                <a:srgbClr val="9CBDD8"/>
              </a:buClr>
              <a:buSzPts val="18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4" name="Google Shape;54;p13"/>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rmAutofit lnSpcReduction="20000"/>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1">
  <p:cSld name="TITLE_2">
    <p:spTree>
      <p:nvGrpSpPr>
        <p:cNvPr id="1" name="Shape 55"/>
        <p:cNvGrpSpPr/>
        <p:nvPr/>
      </p:nvGrpSpPr>
      <p:grpSpPr>
        <a:xfrm>
          <a:off x="0" y="0"/>
          <a:ext cx="0" cy="0"/>
          <a:chOff x="0" y="0"/>
          <a:chExt cx="0" cy="0"/>
        </a:xfrm>
      </p:grpSpPr>
      <p:pic>
        <p:nvPicPr>
          <p:cNvPr id="56" name="Google Shape;56;p14"/>
          <p:cNvPicPr preferRelativeResize="0"/>
          <p:nvPr/>
        </p:nvPicPr>
        <p:blipFill rotWithShape="1">
          <a:blip r:embed="rId2">
            <a:alphaModFix/>
          </a:blip>
          <a:srcRect r="7800" b="7535"/>
          <a:stretch/>
        </p:blipFill>
        <p:spPr>
          <a:xfrm>
            <a:off x="6579650" y="2571750"/>
            <a:ext cx="2564400" cy="2571900"/>
          </a:xfrm>
          <a:prstGeom prst="rect">
            <a:avLst/>
          </a:prstGeom>
          <a:noFill/>
          <a:ln>
            <a:noFill/>
          </a:ln>
        </p:spPr>
      </p:pic>
      <p:sp>
        <p:nvSpPr>
          <p:cNvPr id="57" name="Google Shape;57;p14"/>
          <p:cNvSpPr txBox="1">
            <a:spLocks noGrp="1"/>
          </p:cNvSpPr>
          <p:nvPr>
            <p:ph type="title"/>
          </p:nvPr>
        </p:nvSpPr>
        <p:spPr>
          <a:xfrm>
            <a:off x="457200" y="834727"/>
            <a:ext cx="8229600" cy="1389300"/>
          </a:xfrm>
          <a:prstGeom prst="rect">
            <a:avLst/>
          </a:prstGeom>
          <a:noFill/>
          <a:ln>
            <a:noFill/>
          </a:ln>
        </p:spPr>
        <p:txBody>
          <a:bodyPr spcFirstLastPara="1" wrap="square" lIns="91425" tIns="91425" rIns="91425" bIns="91425" anchor="b" anchorCtr="0">
            <a:normAutofit/>
          </a:bodyPr>
          <a:lstStyle>
            <a:lvl1pPr marL="0" marR="0" lvl="0" indent="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1pPr>
            <a:lvl2pPr marL="0" marR="0" lvl="1" indent="88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2pPr>
            <a:lvl3pPr marL="0" marR="0" lvl="2" indent="177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3pPr>
            <a:lvl4pPr marL="0" marR="0" lvl="3" indent="2540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4pPr>
            <a:lvl5pPr marL="0" marR="0" lvl="4" indent="342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5pPr>
            <a:lvl6pPr marL="0" marR="0" lvl="5" indent="431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6pPr>
            <a:lvl7pPr marL="0" marR="0" lvl="6" indent="5207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7pPr>
            <a:lvl8pPr marL="0" marR="0" lvl="7" indent="5969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8pPr>
            <a:lvl9pPr marL="0" marR="0" lvl="8" indent="685800" algn="l" rtl="0">
              <a:lnSpc>
                <a:spcPct val="120000"/>
              </a:lnSpc>
              <a:spcBef>
                <a:spcPts val="0"/>
              </a:spcBef>
              <a:spcAft>
                <a:spcPts val="0"/>
              </a:spcAft>
              <a:buClr>
                <a:srgbClr val="FFFFFF"/>
              </a:buClr>
              <a:buSzPts val="2800"/>
              <a:buFont typeface="Open Sans"/>
              <a:buNone/>
              <a:defRPr sz="4500" b="0" i="0" u="none" strike="noStrike" cap="none">
                <a:solidFill>
                  <a:srgbClr val="FFFFFF"/>
                </a:solidFill>
                <a:latin typeface="Open Sans"/>
                <a:ea typeface="Open Sans"/>
                <a:cs typeface="Open Sans"/>
                <a:sym typeface="Open Sans"/>
              </a:defRPr>
            </a:lvl9pPr>
          </a:lstStyle>
          <a:p>
            <a:endParaRPr/>
          </a:p>
        </p:txBody>
      </p:sp>
      <p:sp>
        <p:nvSpPr>
          <p:cNvPr id="58" name="Google Shape;58;p14"/>
          <p:cNvSpPr txBox="1">
            <a:spLocks noGrp="1"/>
          </p:cNvSpPr>
          <p:nvPr>
            <p:ph type="body" idx="1"/>
          </p:nvPr>
        </p:nvSpPr>
        <p:spPr>
          <a:xfrm>
            <a:off x="457200" y="2195513"/>
            <a:ext cx="5038800" cy="10035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31250"/>
              </a:lnSpc>
              <a:spcBef>
                <a:spcPts val="0"/>
              </a:spcBef>
              <a:spcAft>
                <a:spcPts val="0"/>
              </a:spcAft>
              <a:buClr>
                <a:srgbClr val="9CBDD8"/>
              </a:buClr>
              <a:buSzPts val="1800"/>
              <a:buFont typeface="Open Sans"/>
              <a:buNone/>
              <a:defRPr sz="2400" b="0" i="0" u="none" strike="noStrike" cap="none">
                <a:solidFill>
                  <a:srgbClr val="9CBDD8"/>
                </a:solidFill>
                <a:latin typeface="Open Sans"/>
                <a:ea typeface="Open Sans"/>
                <a:cs typeface="Open Sans"/>
                <a:sym typeface="Open Sans"/>
              </a:defRPr>
            </a:lvl1pPr>
            <a:lvl2pPr marL="914400" marR="0" lvl="1"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2pPr>
            <a:lvl3pPr marL="1371600" marR="0" lvl="2"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3pPr>
            <a:lvl4pPr marL="1828800" marR="0" lvl="3"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4pPr>
            <a:lvl5pPr marL="2286000" marR="0" lvl="4" indent="-228600" algn="l" rtl="0">
              <a:lnSpc>
                <a:spcPct val="131250"/>
              </a:lnSpc>
              <a:spcBef>
                <a:spcPts val="0"/>
              </a:spcBef>
              <a:spcAft>
                <a:spcPts val="0"/>
              </a:spcAft>
              <a:buClr>
                <a:srgbClr val="9CBDD8"/>
              </a:buClr>
              <a:buSzPts val="1400"/>
              <a:buFont typeface="Open Sans"/>
              <a:buNone/>
              <a:defRPr sz="2400" b="0" i="0" u="none" strike="noStrike" cap="none">
                <a:solidFill>
                  <a:srgbClr val="9CBDD8"/>
                </a:solidFill>
                <a:latin typeface="Open Sans"/>
                <a:ea typeface="Open Sans"/>
                <a:cs typeface="Open Sans"/>
                <a:sym typeface="Open Sans"/>
              </a:defRPr>
            </a:lvl5pPr>
            <a:lvl6pPr marL="2743200" marR="0" lvl="5"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6pPr>
            <a:lvl7pPr marL="3200400" marR="0" lvl="6"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7pPr>
            <a:lvl8pPr marL="3657600" marR="0" lvl="7"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8pPr>
            <a:lvl9pPr marL="4114800" marR="0" lvl="8" indent="-228600" algn="l" rtl="0">
              <a:lnSpc>
                <a:spcPct val="100000"/>
              </a:lnSpc>
              <a:spcBef>
                <a:spcPts val="700"/>
              </a:spcBef>
              <a:spcAft>
                <a:spcPts val="0"/>
              </a:spcAft>
              <a:buClr>
                <a:srgbClr val="9CBDD8"/>
              </a:buClr>
              <a:buSzPts val="1400"/>
              <a:buFont typeface="Open Sans"/>
              <a:buNone/>
              <a:defRPr sz="1800" b="0" i="0" u="none" strike="noStrike" cap="none">
                <a:solidFill>
                  <a:srgbClr val="9CBDD8"/>
                </a:solidFill>
                <a:latin typeface="Open Sans"/>
                <a:ea typeface="Open Sans"/>
                <a:cs typeface="Open Sans"/>
                <a:sym typeface="Open Sans"/>
              </a:defRPr>
            </a:lvl9pPr>
          </a:lstStyle>
          <a:p>
            <a:endParaRPr/>
          </a:p>
        </p:txBody>
      </p:sp>
      <p:sp>
        <p:nvSpPr>
          <p:cNvPr id="59" name="Google Shape;59;p14"/>
          <p:cNvSpPr txBox="1">
            <a:spLocks noGrp="1"/>
          </p:cNvSpPr>
          <p:nvPr>
            <p:ph type="sldNum" idx="12"/>
          </p:nvPr>
        </p:nvSpPr>
        <p:spPr>
          <a:xfrm>
            <a:off x="8892578" y="4953000"/>
            <a:ext cx="141000" cy="152400"/>
          </a:xfrm>
          <a:prstGeom prst="rect">
            <a:avLst/>
          </a:prstGeom>
          <a:noFill/>
          <a:ln>
            <a:noFill/>
          </a:ln>
        </p:spPr>
        <p:txBody>
          <a:bodyPr spcFirstLastPara="1" wrap="square" lIns="19050" tIns="19050" rIns="19050" bIns="19050" anchor="t" anchorCtr="0">
            <a:normAutofit lnSpcReduction="20000"/>
          </a:bodyPr>
          <a:lstStyle>
            <a:lvl1pPr marL="0" marR="0" lvl="0"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1pPr>
            <a:lvl2pPr marL="0" marR="0" lvl="1"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2pPr>
            <a:lvl3pPr marL="0" marR="0" lvl="2"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3pPr>
            <a:lvl4pPr marL="0" marR="0" lvl="3"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4pPr>
            <a:lvl5pPr marL="0" marR="0" lvl="4"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5pPr>
            <a:lvl6pPr marL="0" marR="0" lvl="5"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6pPr>
            <a:lvl7pPr marL="0" marR="0" lvl="6"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7pPr>
            <a:lvl8pPr marL="0" marR="0" lvl="7"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8pPr>
            <a:lvl9pPr marL="0" marR="0" lvl="8" indent="0" algn="ctr" rtl="0">
              <a:lnSpc>
                <a:spcPct val="100000"/>
              </a:lnSpc>
              <a:spcBef>
                <a:spcPts val="0"/>
              </a:spcBef>
              <a:spcAft>
                <a:spcPts val="0"/>
              </a:spcAft>
              <a:buClr>
                <a:srgbClr val="929292"/>
              </a:buClr>
              <a:buFont typeface="Open Sans"/>
              <a:buNone/>
              <a:defRPr sz="700" b="0" i="0" u="none" strike="noStrike" cap="none">
                <a:solidFill>
                  <a:srgbClr val="929292"/>
                </a:solidFill>
                <a:latin typeface="Open Sans"/>
                <a:ea typeface="Open Sans"/>
                <a:cs typeface="Open Sans"/>
                <a:sym typeface="Open Sans"/>
              </a:defRPr>
            </a:lvl9pPr>
          </a:lstStyle>
          <a:p>
            <a:pPr marL="0" lvl="0" indent="0" algn="ctr" rtl="0">
              <a:spcBef>
                <a:spcPts val="0"/>
              </a:spcBef>
              <a:spcAft>
                <a:spcPts val="0"/>
              </a:spcAft>
              <a:buNone/>
            </a:pPr>
            <a:fld id="{00000000-1234-1234-1234-123412341234}" type="slidenum">
              <a:rPr lang="en"/>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84350" y="194000"/>
            <a:ext cx="91440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50" b="1">
                <a:solidFill>
                  <a:srgbClr val="073763"/>
                </a:solidFill>
                <a:highlight>
                  <a:schemeClr val="lt1"/>
                </a:highlight>
              </a:rPr>
              <a:t>Make A Copy Of This Deck And Update The Red Ink Based On Your Notebook Results</a:t>
            </a:r>
            <a:endParaRPr sz="100" b="1">
              <a:solidFill>
                <a:srgbClr val="073763"/>
              </a:solidFill>
              <a:highlight>
                <a:schemeClr val="lt1"/>
              </a:high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457200" y="834727"/>
            <a:ext cx="8229600" cy="1389300"/>
          </a:xfrm>
          <a:prstGeom prst="rect">
            <a:avLst/>
          </a:prstGeom>
          <a:noFill/>
          <a:ln>
            <a:noFill/>
          </a:ln>
        </p:spPr>
        <p:txBody>
          <a:bodyPr spcFirstLastPara="1" wrap="square" lIns="0" tIns="0" rIns="0" bIns="0" anchor="b" anchorCtr="0">
            <a:normAutofit/>
          </a:bodyPr>
          <a:lstStyle/>
          <a:p>
            <a:pPr marL="0" marR="0" lvl="0" indent="0" algn="l" rtl="0">
              <a:lnSpc>
                <a:spcPct val="120000"/>
              </a:lnSpc>
              <a:spcBef>
                <a:spcPts val="0"/>
              </a:spcBef>
              <a:spcAft>
                <a:spcPts val="0"/>
              </a:spcAft>
              <a:buClr>
                <a:srgbClr val="FFFFFF"/>
              </a:buClr>
              <a:buFont typeface="Open Sans"/>
              <a:buNone/>
            </a:pPr>
            <a:r>
              <a:rPr lang="en"/>
              <a:t>Instructor Kick-off</a:t>
            </a:r>
            <a:endParaRPr sz="500"/>
          </a:p>
        </p:txBody>
      </p:sp>
      <p:sp>
        <p:nvSpPr>
          <p:cNvPr id="70" name="Google Shape;70;p16"/>
          <p:cNvSpPr txBox="1">
            <a:spLocks noGrp="1"/>
          </p:cNvSpPr>
          <p:nvPr>
            <p:ph type="body" idx="4294967295"/>
          </p:nvPr>
        </p:nvSpPr>
        <p:spPr>
          <a:xfrm>
            <a:off x="457200" y="4914900"/>
            <a:ext cx="3957600" cy="114300"/>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7D97AD"/>
              </a:buClr>
              <a:buFont typeface="Open Sans"/>
              <a:buNone/>
            </a:pPr>
            <a:r>
              <a:rPr lang="en" sz="700" b="0" i="0" u="none" strike="noStrike" cap="none">
                <a:solidFill>
                  <a:srgbClr val="7D97AD"/>
                </a:solidFill>
                <a:latin typeface="Open Sans"/>
                <a:ea typeface="Open Sans"/>
                <a:cs typeface="Open Sans"/>
                <a:sym typeface="Open Sans"/>
              </a:rPr>
              <a:t>© 201</a:t>
            </a:r>
            <a:r>
              <a:rPr lang="en" sz="700"/>
              <a:t>9</a:t>
            </a:r>
            <a:r>
              <a:rPr lang="en" sz="700" b="0" i="0" u="none" strike="noStrike" cap="none">
                <a:solidFill>
                  <a:srgbClr val="7D97AD"/>
                </a:solidFill>
                <a:latin typeface="Open Sans"/>
                <a:ea typeface="Open Sans"/>
                <a:cs typeface="Open Sans"/>
                <a:sym typeface="Open Sans"/>
              </a:rPr>
              <a:t xml:space="preserve"> Udacity.  All rights reserved.</a:t>
            </a:r>
            <a:endParaRPr sz="500"/>
          </a:p>
        </p:txBody>
      </p:sp>
      <p:pic>
        <p:nvPicPr>
          <p:cNvPr id="71" name="Google Shape;71;p16"/>
          <p:cNvPicPr preferRelativeResize="0"/>
          <p:nvPr/>
        </p:nvPicPr>
        <p:blipFill>
          <a:blip r:embed="rId3">
            <a:alphaModFix/>
          </a:blip>
          <a:stretch>
            <a:fillRect/>
          </a:stretch>
        </p:blipFill>
        <p:spPr>
          <a:xfrm>
            <a:off x="0" y="0"/>
            <a:ext cx="9161999" cy="5143501"/>
          </a:xfrm>
          <a:prstGeom prst="rect">
            <a:avLst/>
          </a:prstGeom>
          <a:noFill/>
          <a:ln>
            <a:noFill/>
          </a:ln>
        </p:spPr>
      </p:pic>
      <p:sp>
        <p:nvSpPr>
          <p:cNvPr id="72" name="Google Shape;72;p16"/>
          <p:cNvSpPr txBox="1"/>
          <p:nvPr/>
        </p:nvSpPr>
        <p:spPr>
          <a:xfrm>
            <a:off x="457200" y="834727"/>
            <a:ext cx="8229600" cy="1389300"/>
          </a:xfrm>
          <a:prstGeom prst="rect">
            <a:avLst/>
          </a:prstGeom>
          <a:noFill/>
          <a:ln>
            <a:noFill/>
          </a:ln>
        </p:spPr>
        <p:txBody>
          <a:bodyPr spcFirstLastPara="1" wrap="square" lIns="0" tIns="0" rIns="0" bIns="0" anchor="b" anchorCtr="0">
            <a:noAutofit/>
          </a:bodyPr>
          <a:lstStyle/>
          <a:p>
            <a:pPr marL="0" lvl="0" indent="0" algn="l" rtl="0">
              <a:lnSpc>
                <a:spcPct val="120000"/>
              </a:lnSpc>
              <a:spcBef>
                <a:spcPts val="0"/>
              </a:spcBef>
              <a:spcAft>
                <a:spcPts val="0"/>
              </a:spcAft>
              <a:buNone/>
            </a:pPr>
            <a:r>
              <a:rPr lang="en" sz="4500">
                <a:solidFill>
                  <a:srgbClr val="FFFFFF"/>
                </a:solidFill>
                <a:latin typeface="Open Sans"/>
                <a:ea typeface="Open Sans"/>
                <a:cs typeface="Open Sans"/>
                <a:sym typeface="Open Sans"/>
              </a:rPr>
              <a:t>Analyze A/B Test Results</a:t>
            </a:r>
            <a:endParaRPr sz="500">
              <a:solidFill>
                <a:srgbClr val="FFFFF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p:nvPr/>
        </p:nvSpPr>
        <p:spPr>
          <a:xfrm>
            <a:off x="118100" y="1020700"/>
            <a:ext cx="9076500" cy="15354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404040"/>
                </a:solidFill>
                <a:highlight>
                  <a:schemeClr val="lt1"/>
                </a:highlight>
                <a:latin typeface="Cambria"/>
                <a:ea typeface="Cambria"/>
                <a:cs typeface="Cambria"/>
                <a:sym typeface="Cambria"/>
              </a:rPr>
              <a:t xml:space="preserve">Total Variant Visitors: </a:t>
            </a:r>
            <a:r>
              <a:rPr lang="en" sz="2000" b="1">
                <a:solidFill>
                  <a:srgbClr val="FF0000"/>
                </a:solidFill>
                <a:highlight>
                  <a:schemeClr val="lt1"/>
                </a:highlight>
                <a:latin typeface="Cambria"/>
                <a:ea typeface="Cambria"/>
                <a:cs typeface="Cambria"/>
                <a:sym typeface="Cambria"/>
              </a:rPr>
              <a:t>147,239</a:t>
            </a:r>
            <a:endParaRPr sz="2000">
              <a:solidFill>
                <a:srgbClr val="FF0000"/>
              </a:solidFill>
              <a:highlight>
                <a:schemeClr val="lt1"/>
              </a:highlight>
              <a:latin typeface="Cambria"/>
              <a:ea typeface="Cambria"/>
              <a:cs typeface="Cambria"/>
              <a:sym typeface="Cambria"/>
            </a:endParaRPr>
          </a:p>
          <a:p>
            <a:pPr marL="0" lvl="0" indent="0" algn="l" rtl="0">
              <a:lnSpc>
                <a:spcPct val="115000"/>
              </a:lnSpc>
              <a:spcBef>
                <a:spcPts val="0"/>
              </a:spcBef>
              <a:spcAft>
                <a:spcPts val="0"/>
              </a:spcAft>
              <a:buNone/>
            </a:pPr>
            <a:r>
              <a:rPr lang="en" sz="2000" b="1">
                <a:solidFill>
                  <a:srgbClr val="404040"/>
                </a:solidFill>
                <a:highlight>
                  <a:schemeClr val="lt1"/>
                </a:highlight>
                <a:latin typeface="Cambria"/>
                <a:ea typeface="Cambria"/>
                <a:cs typeface="Cambria"/>
                <a:sym typeface="Cambria"/>
              </a:rPr>
              <a:t>Total Control Participants:</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147,239</a:t>
            </a:r>
            <a:endParaRPr sz="2000">
              <a:solidFill>
                <a:srgbClr val="FF0000"/>
              </a:solidFill>
              <a:highlight>
                <a:schemeClr val="lt1"/>
              </a:highlight>
              <a:latin typeface="Cambria"/>
              <a:ea typeface="Cambria"/>
              <a:cs typeface="Cambria"/>
              <a:sym typeface="Cambria"/>
            </a:endParaRPr>
          </a:p>
          <a:p>
            <a:pPr marL="0" lvl="0" indent="0" algn="l" rtl="0">
              <a:lnSpc>
                <a:spcPct val="108750"/>
              </a:lnSpc>
              <a:spcBef>
                <a:spcPts val="0"/>
              </a:spcBef>
              <a:spcAft>
                <a:spcPts val="0"/>
              </a:spcAft>
              <a:buNone/>
            </a:pPr>
            <a:r>
              <a:rPr lang="en" sz="2000">
                <a:solidFill>
                  <a:schemeClr val="dk1"/>
                </a:solidFill>
                <a:highlight>
                  <a:schemeClr val="lt1"/>
                </a:highlight>
                <a:latin typeface="Cambria"/>
                <a:ea typeface="Cambria"/>
                <a:cs typeface="Cambria"/>
                <a:sym typeface="Cambria"/>
              </a:rPr>
              <a:t>​</a:t>
            </a:r>
            <a:endParaRPr sz="2000">
              <a:solidFill>
                <a:schemeClr val="dk1"/>
              </a:solidFill>
              <a:highlight>
                <a:schemeClr val="lt1"/>
              </a:highlight>
              <a:latin typeface="Cambria"/>
              <a:ea typeface="Cambria"/>
              <a:cs typeface="Cambria"/>
              <a:sym typeface="Cambria"/>
            </a:endParaRPr>
          </a:p>
          <a:p>
            <a:pPr marL="0" lvl="0" indent="0" algn="l" rtl="0">
              <a:lnSpc>
                <a:spcPct val="115000"/>
              </a:lnSpc>
              <a:spcBef>
                <a:spcPts val="0"/>
              </a:spcBef>
              <a:spcAft>
                <a:spcPts val="0"/>
              </a:spcAft>
              <a:buNone/>
            </a:pPr>
            <a:r>
              <a:rPr lang="en" sz="2000" b="1">
                <a:solidFill>
                  <a:srgbClr val="FF0000"/>
                </a:solidFill>
                <a:highlight>
                  <a:schemeClr val="lt1"/>
                </a:highlight>
                <a:latin typeface="Cambria"/>
                <a:ea typeface="Cambria"/>
                <a:cs typeface="Cambria"/>
                <a:sym typeface="Cambria"/>
              </a:rPr>
              <a:t>Country Distribution: United States (70%), United Kingdom (17%), Canada (13%). The experiment was evenly split between control (old page) and treatment (new page) groups across all three countries.</a:t>
            </a:r>
            <a:endParaRPr sz="2000">
              <a:solidFill>
                <a:schemeClr val="dk1"/>
              </a:solidFill>
              <a:highlight>
                <a:schemeClr val="lt1"/>
              </a:highlight>
              <a:latin typeface="Cambria"/>
              <a:ea typeface="Cambria"/>
              <a:cs typeface="Cambria"/>
              <a:sym typeface="Cambria"/>
            </a:endParaRPr>
          </a:p>
        </p:txBody>
      </p:sp>
      <p:sp>
        <p:nvSpPr>
          <p:cNvPr id="78" name="Google Shape;78;p17"/>
          <p:cNvSpPr txBox="1"/>
          <p:nvPr/>
        </p:nvSpPr>
        <p:spPr>
          <a:xfrm>
            <a:off x="84350" y="194000"/>
            <a:ext cx="91440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50" b="1">
                <a:solidFill>
                  <a:srgbClr val="073763"/>
                </a:solidFill>
                <a:highlight>
                  <a:schemeClr val="lt1"/>
                </a:highlight>
              </a:rPr>
              <a:t>How Was The Experiment Implemented?​</a:t>
            </a:r>
            <a:endParaRPr sz="100" b="1">
              <a:solidFill>
                <a:srgbClr val="073763"/>
              </a:solidFill>
              <a:highlight>
                <a:schemeClr val="lt1"/>
              </a:highlight>
            </a:endParaRPr>
          </a:p>
        </p:txBody>
      </p:sp>
      <p:pic>
        <p:nvPicPr>
          <p:cNvPr id="79" name="Google Shape;79;p17"/>
          <p:cNvPicPr preferRelativeResize="0"/>
          <p:nvPr/>
        </p:nvPicPr>
        <p:blipFill>
          <a:blip r:embed="rId3">
            <a:alphaModFix/>
          </a:blip>
          <a:stretch>
            <a:fillRect/>
          </a:stretch>
        </p:blipFill>
        <p:spPr>
          <a:xfrm>
            <a:off x="1900475" y="2556100"/>
            <a:ext cx="5725150" cy="2470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p:nvPr/>
        </p:nvSpPr>
        <p:spPr>
          <a:xfrm>
            <a:off x="84350" y="194000"/>
            <a:ext cx="91440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50" b="1">
                <a:solidFill>
                  <a:srgbClr val="073763"/>
                </a:solidFill>
                <a:highlight>
                  <a:schemeClr val="lt1"/>
                </a:highlight>
              </a:rPr>
              <a:t>Conversion Rates</a:t>
            </a:r>
            <a:endParaRPr sz="100" b="1">
              <a:solidFill>
                <a:srgbClr val="073763"/>
              </a:solidFill>
              <a:highlight>
                <a:schemeClr val="lt1"/>
              </a:highlight>
            </a:endParaRPr>
          </a:p>
        </p:txBody>
      </p:sp>
      <p:graphicFrame>
        <p:nvGraphicFramePr>
          <p:cNvPr id="85" name="Google Shape;85;p18"/>
          <p:cNvGraphicFramePr/>
          <p:nvPr>
            <p:extLst>
              <p:ext uri="{D42A27DB-BD31-4B8C-83A1-F6EECF244321}">
                <p14:modId xmlns:p14="http://schemas.microsoft.com/office/powerpoint/2010/main" val="3764629005"/>
              </p:ext>
            </p:extLst>
          </p:nvPr>
        </p:nvGraphicFramePr>
        <p:xfrm>
          <a:off x="825950" y="1122975"/>
          <a:ext cx="7239000" cy="1234350"/>
        </p:xfrm>
        <a:graphic>
          <a:graphicData uri="http://schemas.openxmlformats.org/drawingml/2006/table">
            <a:tbl>
              <a:tblPr>
                <a:noFill/>
                <a:tableStyleId>{FBE69884-2A00-4C6D-98CB-298E58299215}</a:tableStyleId>
              </a:tblPr>
              <a:tblGrid>
                <a:gridCol w="1809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sz="1500" b="1"/>
                    </a:p>
                  </a:txBody>
                  <a:tcPr marL="91425" marR="91425" marT="91425" marB="91425">
                    <a:solidFill>
                      <a:srgbClr val="CFE2F3"/>
                    </a:solidFill>
                  </a:tcPr>
                </a:tc>
                <a:tc>
                  <a:txBody>
                    <a:bodyPr/>
                    <a:lstStyle/>
                    <a:p>
                      <a:pPr marL="0" lvl="0" indent="0" algn="l" rtl="0">
                        <a:spcBef>
                          <a:spcPts val="0"/>
                        </a:spcBef>
                        <a:spcAft>
                          <a:spcPts val="0"/>
                        </a:spcAft>
                        <a:buNone/>
                      </a:pPr>
                      <a:r>
                        <a:rPr lang="en" sz="1500" b="1"/>
                        <a:t>U.S.</a:t>
                      </a:r>
                      <a:endParaRPr sz="1500" b="1"/>
                    </a:p>
                  </a:txBody>
                  <a:tcPr marL="91425" marR="91425" marT="91425" marB="91425">
                    <a:solidFill>
                      <a:srgbClr val="CFE2F3"/>
                    </a:solidFill>
                  </a:tcPr>
                </a:tc>
                <a:tc>
                  <a:txBody>
                    <a:bodyPr/>
                    <a:lstStyle/>
                    <a:p>
                      <a:pPr marL="0" lvl="0" indent="0" algn="l" rtl="0">
                        <a:spcBef>
                          <a:spcPts val="0"/>
                        </a:spcBef>
                        <a:spcAft>
                          <a:spcPts val="0"/>
                        </a:spcAft>
                        <a:buNone/>
                      </a:pPr>
                      <a:r>
                        <a:rPr lang="en" sz="1500" b="1"/>
                        <a:t>U.K.</a:t>
                      </a:r>
                      <a:endParaRPr sz="1500" b="1"/>
                    </a:p>
                  </a:txBody>
                  <a:tcPr marL="91425" marR="91425" marT="91425" marB="91425">
                    <a:solidFill>
                      <a:srgbClr val="CFE2F3"/>
                    </a:solidFill>
                  </a:tcPr>
                </a:tc>
                <a:tc>
                  <a:txBody>
                    <a:bodyPr/>
                    <a:lstStyle/>
                    <a:p>
                      <a:pPr marL="0" lvl="0" indent="0" algn="l" rtl="0">
                        <a:spcBef>
                          <a:spcPts val="0"/>
                        </a:spcBef>
                        <a:spcAft>
                          <a:spcPts val="0"/>
                        </a:spcAft>
                        <a:buNone/>
                      </a:pPr>
                      <a:r>
                        <a:rPr lang="en" sz="1500" b="1"/>
                        <a:t>CA</a:t>
                      </a:r>
                      <a:endParaRPr sz="1500" b="1"/>
                    </a:p>
                  </a:txBody>
                  <a:tcPr marL="91425" marR="91425" marT="91425" marB="91425">
                    <a:solidFill>
                      <a:srgbClr val="CFE2F3"/>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sz="1500" b="1" dirty="0"/>
                        <a:t>Control</a:t>
                      </a:r>
                      <a:endParaRPr sz="1500" b="1" dirty="0"/>
                    </a:p>
                  </a:txBody>
                  <a:tcPr marL="91425" marR="91425" marT="91425" marB="91425">
                    <a:solidFill>
                      <a:srgbClr val="CFE2F3"/>
                    </a:solidFill>
                  </a:tcPr>
                </a:tc>
                <a:tc>
                  <a:txBody>
                    <a:bodyPr/>
                    <a:lstStyle/>
                    <a:p>
                      <a:pPr marL="0" lvl="0" indent="0" algn="l" rtl="0">
                        <a:spcBef>
                          <a:spcPts val="0"/>
                        </a:spcBef>
                        <a:spcAft>
                          <a:spcPts val="0"/>
                        </a:spcAft>
                        <a:buNone/>
                      </a:pPr>
                      <a:r>
                        <a:rPr lang="en" sz="1500" b="1">
                          <a:solidFill>
                            <a:srgbClr val="FF0000"/>
                          </a:solidFill>
                        </a:rPr>
                        <a:t>11.8%</a:t>
                      </a:r>
                      <a:endParaRPr sz="1500" b="1">
                        <a:solidFill>
                          <a:srgbClr val="FF0000"/>
                        </a:solidFill>
                      </a:endParaRPr>
                    </a:p>
                  </a:txBody>
                  <a:tcPr marL="91425" marR="91425" marT="91425" marB="91425">
                    <a:solidFill>
                      <a:srgbClr val="FFFFFF"/>
                    </a:solidFill>
                  </a:tcPr>
                </a:tc>
                <a:tc>
                  <a:txBody>
                    <a:bodyPr/>
                    <a:lstStyle/>
                    <a:p>
                      <a:pPr marL="0" lvl="0" indent="0" algn="l" rtl="0">
                        <a:spcBef>
                          <a:spcPts val="0"/>
                        </a:spcBef>
                        <a:spcAft>
                          <a:spcPts val="0"/>
                        </a:spcAft>
                        <a:buClr>
                          <a:schemeClr val="dk1"/>
                        </a:buClr>
                        <a:buSzPts val="1100"/>
                        <a:buFont typeface="Arial"/>
                        <a:buNone/>
                      </a:pPr>
                      <a:r>
                        <a:rPr lang="en" sz="1500" b="1">
                          <a:solidFill>
                            <a:srgbClr val="FF0000"/>
                          </a:solidFill>
                        </a:rPr>
                        <a:t>12.3%</a:t>
                      </a:r>
                      <a:endParaRPr sz="1500" b="1"/>
                    </a:p>
                  </a:txBody>
                  <a:tcPr marL="91425" marR="91425" marT="91425" marB="91425">
                    <a:solidFill>
                      <a:srgbClr val="FFFFFF"/>
                    </a:solidFill>
                  </a:tcPr>
                </a:tc>
                <a:tc>
                  <a:txBody>
                    <a:bodyPr/>
                    <a:lstStyle/>
                    <a:p>
                      <a:pPr marL="0" lvl="0" indent="0" algn="l" rtl="0">
                        <a:spcBef>
                          <a:spcPts val="0"/>
                        </a:spcBef>
                        <a:spcAft>
                          <a:spcPts val="0"/>
                        </a:spcAft>
                        <a:buClr>
                          <a:schemeClr val="dk1"/>
                        </a:buClr>
                        <a:buSzPts val="1100"/>
                        <a:buFont typeface="Arial"/>
                        <a:buNone/>
                      </a:pPr>
                      <a:r>
                        <a:rPr lang="en" sz="1500" b="1">
                          <a:solidFill>
                            <a:srgbClr val="FF0000"/>
                          </a:solidFill>
                        </a:rPr>
                        <a:t>12.0%</a:t>
                      </a:r>
                      <a:endParaRPr sz="1500" b="1"/>
                    </a:p>
                  </a:txBody>
                  <a:tcPr marL="91425" marR="91425" marT="91425" marB="91425">
                    <a:solidFill>
                      <a:srgbClr val="FFFFFF"/>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sz="1500" b="1" dirty="0"/>
                        <a:t>Treatment</a:t>
                      </a:r>
                      <a:endParaRPr sz="1500" b="1" dirty="0"/>
                    </a:p>
                  </a:txBody>
                  <a:tcPr marL="91425" marR="91425" marT="91425" marB="91425">
                    <a:solidFill>
                      <a:srgbClr val="CFE2F3"/>
                    </a:solidFill>
                  </a:tcPr>
                </a:tc>
                <a:tc>
                  <a:txBody>
                    <a:bodyPr/>
                    <a:lstStyle/>
                    <a:p>
                      <a:pPr marL="0" lvl="0" indent="0" algn="l" rtl="0">
                        <a:spcBef>
                          <a:spcPts val="0"/>
                        </a:spcBef>
                        <a:spcAft>
                          <a:spcPts val="0"/>
                        </a:spcAft>
                        <a:buClr>
                          <a:schemeClr val="dk1"/>
                        </a:buClr>
                        <a:buSzPts val="1100"/>
                        <a:buFont typeface="Arial"/>
                        <a:buNone/>
                      </a:pPr>
                      <a:r>
                        <a:rPr lang="en" sz="1500" b="1">
                          <a:solidFill>
                            <a:srgbClr val="FF0000"/>
                          </a:solidFill>
                        </a:rPr>
                        <a:t>12.0%</a:t>
                      </a:r>
                      <a:endParaRPr sz="1500" b="1"/>
                    </a:p>
                  </a:txBody>
                  <a:tcPr marL="91425" marR="91425" marT="91425" marB="91425">
                    <a:solidFill>
                      <a:srgbClr val="FFFFFF"/>
                    </a:solidFill>
                  </a:tcPr>
                </a:tc>
                <a:tc>
                  <a:txBody>
                    <a:bodyPr/>
                    <a:lstStyle/>
                    <a:p>
                      <a:pPr marL="0" lvl="0" indent="0" algn="l" rtl="0">
                        <a:spcBef>
                          <a:spcPts val="0"/>
                        </a:spcBef>
                        <a:spcAft>
                          <a:spcPts val="0"/>
                        </a:spcAft>
                        <a:buClr>
                          <a:schemeClr val="dk1"/>
                        </a:buClr>
                        <a:buSzPts val="1100"/>
                        <a:buFont typeface="Arial"/>
                        <a:buNone/>
                      </a:pPr>
                      <a:r>
                        <a:rPr lang="en" sz="1500" b="1">
                          <a:solidFill>
                            <a:srgbClr val="FF0000"/>
                          </a:solidFill>
                        </a:rPr>
                        <a:t>11.7%</a:t>
                      </a:r>
                      <a:endParaRPr sz="1500" b="1"/>
                    </a:p>
                  </a:txBody>
                  <a:tcPr marL="91425" marR="91425" marT="91425" marB="91425">
                    <a:solidFill>
                      <a:srgbClr val="FFFFFF"/>
                    </a:solidFill>
                  </a:tcPr>
                </a:tc>
                <a:tc>
                  <a:txBody>
                    <a:bodyPr/>
                    <a:lstStyle/>
                    <a:p>
                      <a:pPr marL="0" lvl="0" indent="0" algn="l" rtl="0">
                        <a:spcBef>
                          <a:spcPts val="0"/>
                        </a:spcBef>
                        <a:spcAft>
                          <a:spcPts val="0"/>
                        </a:spcAft>
                        <a:buClr>
                          <a:schemeClr val="dk1"/>
                        </a:buClr>
                        <a:buSzPts val="1100"/>
                        <a:buFont typeface="Arial"/>
                        <a:buNone/>
                      </a:pPr>
                      <a:r>
                        <a:rPr lang="en" sz="1500" b="1" dirty="0">
                          <a:solidFill>
                            <a:srgbClr val="FF0000"/>
                          </a:solidFill>
                        </a:rPr>
                        <a:t>12.0%</a:t>
                      </a:r>
                      <a:endParaRPr sz="1500" b="1" dirty="0"/>
                    </a:p>
                  </a:txBody>
                  <a:tcPr marL="91425" marR="91425" marT="91425" marB="91425">
                    <a:solidFill>
                      <a:srgbClr val="FFFFFF"/>
                    </a:solidFill>
                  </a:tcPr>
                </a:tc>
                <a:extLst>
                  <a:ext uri="{0D108BD9-81ED-4DB2-BD59-A6C34878D82A}">
                    <a16:rowId xmlns:a16="http://schemas.microsoft.com/office/drawing/2014/main" val="10002"/>
                  </a:ext>
                </a:extLst>
              </a:tr>
            </a:tbl>
          </a:graphicData>
        </a:graphic>
      </p:graphicFrame>
      <p:sp>
        <p:nvSpPr>
          <p:cNvPr id="86" name="Google Shape;86;p18"/>
          <p:cNvSpPr txBox="1"/>
          <p:nvPr/>
        </p:nvSpPr>
        <p:spPr>
          <a:xfrm>
            <a:off x="481400" y="2817975"/>
            <a:ext cx="8207100" cy="8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404040"/>
                </a:solidFill>
                <a:highlight>
                  <a:schemeClr val="lt1"/>
                </a:highlight>
                <a:latin typeface="Cambria"/>
                <a:ea typeface="Cambria"/>
                <a:cs typeface="Cambria"/>
                <a:sym typeface="Cambria"/>
              </a:rPr>
              <a:t xml:space="preserve">Executive Summary: </a:t>
            </a:r>
            <a:r>
              <a:rPr lang="en" sz="2000" b="1">
                <a:solidFill>
                  <a:srgbClr val="FF0000"/>
                </a:solidFill>
                <a:highlight>
                  <a:schemeClr val="lt1"/>
                </a:highlight>
                <a:latin typeface="Cambria"/>
                <a:ea typeface="Cambria"/>
                <a:cs typeface="Cambria"/>
                <a:sym typeface="Cambria"/>
              </a:rPr>
              <a:t>Conversion rates are nearly identical across all three countries and both groups, ranging from 11.7% to 12.3%. Neither the treatment page nor the country of origin shows a meaningful association with conversion. The differences are too small to suggest a practical effect.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p:nvPr/>
        </p:nvSpPr>
        <p:spPr>
          <a:xfrm>
            <a:off x="84350" y="194000"/>
            <a:ext cx="91440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50" b="1">
                <a:solidFill>
                  <a:srgbClr val="073763"/>
                </a:solidFill>
                <a:highlight>
                  <a:schemeClr val="lt1"/>
                </a:highlight>
              </a:rPr>
              <a:t>Experiment Results</a:t>
            </a:r>
            <a:endParaRPr sz="100" b="1">
              <a:solidFill>
                <a:srgbClr val="073763"/>
              </a:solidFill>
              <a:highlight>
                <a:schemeClr val="lt1"/>
              </a:highlight>
            </a:endParaRPr>
          </a:p>
        </p:txBody>
      </p:sp>
      <p:sp>
        <p:nvSpPr>
          <p:cNvPr id="92" name="Google Shape;92;p19"/>
          <p:cNvSpPr txBox="1"/>
          <p:nvPr/>
        </p:nvSpPr>
        <p:spPr>
          <a:xfrm>
            <a:off x="118100" y="1020700"/>
            <a:ext cx="9076500" cy="22050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2000" b="1">
                <a:solidFill>
                  <a:srgbClr val="404040"/>
                </a:solidFill>
                <a:highlight>
                  <a:schemeClr val="lt1"/>
                </a:highlight>
                <a:latin typeface="Cambria"/>
                <a:ea typeface="Cambria"/>
                <a:cs typeface="Cambria"/>
                <a:sym typeface="Cambria"/>
              </a:rPr>
              <a:t xml:space="preserve">Treatment Conversion Rate: </a:t>
            </a:r>
            <a:r>
              <a:rPr lang="en" sz="2000" b="1">
                <a:solidFill>
                  <a:srgbClr val="FF0000"/>
                </a:solidFill>
                <a:highlight>
                  <a:schemeClr val="lt1"/>
                </a:highlight>
                <a:latin typeface="Cambria"/>
                <a:ea typeface="Cambria"/>
                <a:cs typeface="Cambria"/>
                <a:sym typeface="Cambria"/>
              </a:rPr>
              <a:t>11.92%</a:t>
            </a:r>
            <a:endParaRPr sz="2000">
              <a:solidFill>
                <a:srgbClr val="FF0000"/>
              </a:solidFill>
              <a:highlight>
                <a:schemeClr val="lt1"/>
              </a:highlight>
              <a:latin typeface="Cambria"/>
              <a:ea typeface="Cambria"/>
              <a:cs typeface="Cambria"/>
              <a:sym typeface="Cambria"/>
            </a:endParaRPr>
          </a:p>
          <a:p>
            <a:pPr marL="0" lvl="0" indent="0" algn="l" rtl="0">
              <a:lnSpc>
                <a:spcPct val="115000"/>
              </a:lnSpc>
              <a:spcBef>
                <a:spcPts val="0"/>
              </a:spcBef>
              <a:spcAft>
                <a:spcPts val="0"/>
              </a:spcAft>
              <a:buNone/>
            </a:pPr>
            <a:r>
              <a:rPr lang="en" sz="2000" b="1">
                <a:solidFill>
                  <a:srgbClr val="404040"/>
                </a:solidFill>
                <a:highlight>
                  <a:schemeClr val="lt1"/>
                </a:highlight>
                <a:latin typeface="Cambria"/>
                <a:ea typeface="Cambria"/>
                <a:cs typeface="Cambria"/>
                <a:sym typeface="Cambria"/>
              </a:rPr>
              <a:t>Control Conversion Rate:</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11.88%</a:t>
            </a:r>
            <a:endParaRPr sz="2000">
              <a:solidFill>
                <a:srgbClr val="FF0000"/>
              </a:solidFill>
              <a:highlight>
                <a:schemeClr val="lt1"/>
              </a:highlight>
              <a:latin typeface="Cambria"/>
              <a:ea typeface="Cambria"/>
              <a:cs typeface="Cambria"/>
              <a:sym typeface="Cambria"/>
            </a:endParaRPr>
          </a:p>
          <a:p>
            <a:pPr marL="0" lvl="0" indent="0" algn="l" rtl="0">
              <a:lnSpc>
                <a:spcPct val="108750"/>
              </a:lnSpc>
              <a:spcBef>
                <a:spcPts val="0"/>
              </a:spcBef>
              <a:spcAft>
                <a:spcPts val="0"/>
              </a:spcAft>
              <a:buNone/>
            </a:pPr>
            <a:r>
              <a:rPr lang="en" sz="2000" b="1">
                <a:solidFill>
                  <a:srgbClr val="404040"/>
                </a:solidFill>
                <a:highlight>
                  <a:schemeClr val="lt1"/>
                </a:highlight>
                <a:latin typeface="Cambria"/>
                <a:ea typeface="Cambria"/>
                <a:cs typeface="Cambria"/>
                <a:sym typeface="Cambria"/>
              </a:rPr>
              <a:t>Delta in Treatment vs. Control Conversion Rate:</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+0.04% (Treatment slightly higher)</a:t>
            </a:r>
            <a:endParaRPr sz="2000" b="1">
              <a:solidFill>
                <a:srgbClr val="FF0000"/>
              </a:solidFill>
              <a:highlight>
                <a:schemeClr val="lt1"/>
              </a:highlight>
              <a:latin typeface="Cambria"/>
              <a:ea typeface="Cambria"/>
              <a:cs typeface="Cambria"/>
              <a:sym typeface="Cambria"/>
            </a:endParaRPr>
          </a:p>
          <a:p>
            <a:pPr marL="0" lvl="0" indent="0" algn="l" rtl="0">
              <a:lnSpc>
                <a:spcPct val="108750"/>
              </a:lnSpc>
              <a:spcBef>
                <a:spcPts val="0"/>
              </a:spcBef>
              <a:spcAft>
                <a:spcPts val="0"/>
              </a:spcAft>
              <a:buNone/>
            </a:pPr>
            <a:r>
              <a:rPr lang="en" sz="2000" b="1">
                <a:solidFill>
                  <a:srgbClr val="404040"/>
                </a:solidFill>
                <a:highlight>
                  <a:schemeClr val="lt1"/>
                </a:highlight>
                <a:latin typeface="Cambria"/>
                <a:ea typeface="Cambria"/>
                <a:cs typeface="Cambria"/>
                <a:sym typeface="Cambria"/>
              </a:rPr>
              <a:t>p-value:</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0.394</a:t>
            </a:r>
            <a:endParaRPr sz="2000" b="1">
              <a:solidFill>
                <a:srgbClr val="FF0000"/>
              </a:solidFill>
              <a:highlight>
                <a:schemeClr val="lt1"/>
              </a:highlight>
              <a:latin typeface="Cambria"/>
              <a:ea typeface="Cambria"/>
              <a:cs typeface="Cambria"/>
              <a:sym typeface="Cambria"/>
            </a:endParaRPr>
          </a:p>
          <a:p>
            <a:pPr marL="0" lvl="0" indent="0" algn="l" rtl="0">
              <a:lnSpc>
                <a:spcPct val="108750"/>
              </a:lnSpc>
              <a:spcBef>
                <a:spcPts val="0"/>
              </a:spcBef>
              <a:spcAft>
                <a:spcPts val="0"/>
              </a:spcAft>
              <a:buNone/>
            </a:pPr>
            <a:r>
              <a:rPr lang="en" sz="2000" b="1">
                <a:solidFill>
                  <a:srgbClr val="404040"/>
                </a:solidFill>
                <a:highlight>
                  <a:schemeClr val="lt1"/>
                </a:highlight>
                <a:latin typeface="Cambria"/>
                <a:ea typeface="Cambria"/>
                <a:cs typeface="Cambria"/>
                <a:sym typeface="Cambria"/>
              </a:rPr>
              <a:t>Conclusion:</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We fail to reject the null hypothesis. The p-value of 0.394 is well above the 0.05 significance threshold, meaning there is no statistically significant evidence that the new page leads to higher conversion rates. Practically speaking, the company should not switch to the new page based on this data alone. Running the experiment longer or gathering more data may be warranted before making a final decision.</a:t>
            </a:r>
            <a:endParaRPr sz="2000">
              <a:solidFill>
                <a:schemeClr val="dk1"/>
              </a:solidFill>
              <a:highlight>
                <a:schemeClr val="lt1"/>
              </a:highlight>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p:nvPr/>
        </p:nvSpPr>
        <p:spPr>
          <a:xfrm>
            <a:off x="84350" y="194000"/>
            <a:ext cx="9144000" cy="66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50" b="1">
                <a:solidFill>
                  <a:srgbClr val="073763"/>
                </a:solidFill>
                <a:highlight>
                  <a:schemeClr val="lt1"/>
                </a:highlight>
              </a:rPr>
              <a:t>Country Results</a:t>
            </a:r>
            <a:endParaRPr sz="100" b="1">
              <a:solidFill>
                <a:srgbClr val="073763"/>
              </a:solidFill>
              <a:highlight>
                <a:schemeClr val="lt1"/>
              </a:highlight>
            </a:endParaRPr>
          </a:p>
        </p:txBody>
      </p:sp>
      <p:sp>
        <p:nvSpPr>
          <p:cNvPr id="98" name="Google Shape;98;p20"/>
          <p:cNvSpPr txBox="1"/>
          <p:nvPr/>
        </p:nvSpPr>
        <p:spPr>
          <a:xfrm>
            <a:off x="118100" y="1020700"/>
            <a:ext cx="9076500" cy="4926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08750"/>
              </a:lnSpc>
              <a:spcBef>
                <a:spcPts val="0"/>
              </a:spcBef>
              <a:spcAft>
                <a:spcPts val="0"/>
              </a:spcAft>
              <a:buNone/>
            </a:pPr>
            <a:r>
              <a:rPr lang="en" sz="2000" b="1">
                <a:solidFill>
                  <a:srgbClr val="404040"/>
                </a:solidFill>
                <a:highlight>
                  <a:schemeClr val="lt1"/>
                </a:highlight>
                <a:latin typeface="Cambria"/>
                <a:ea typeface="Cambria"/>
                <a:cs typeface="Cambria"/>
                <a:sym typeface="Cambria"/>
              </a:rPr>
              <a:t>Conclusion:</a:t>
            </a:r>
            <a:r>
              <a:rPr lang="en" sz="2000">
                <a:solidFill>
                  <a:schemeClr val="dk1"/>
                </a:solidFill>
                <a:highlight>
                  <a:schemeClr val="lt1"/>
                </a:highlight>
                <a:latin typeface="Cambria"/>
                <a:ea typeface="Cambria"/>
                <a:cs typeface="Cambria"/>
                <a:sym typeface="Cambria"/>
              </a:rPr>
              <a:t xml:space="preserve">​ </a:t>
            </a:r>
            <a:r>
              <a:rPr lang="en" sz="2000" b="1">
                <a:solidFill>
                  <a:srgbClr val="FF0000"/>
                </a:solidFill>
                <a:highlight>
                  <a:schemeClr val="lt1"/>
                </a:highlight>
                <a:latin typeface="Cambria"/>
                <a:ea typeface="Cambria"/>
                <a:cs typeface="Cambria"/>
                <a:sym typeface="Cambria"/>
              </a:rPr>
              <a:t>The logistic regression model with country dummy variables shows no statistically significant country effect. US users had a p-value of 0.509 and UK users had a p-value of 0.940, both far above 0.05. Adding country to the model does not improve predictive power. We conclude that country of origin does not meaningfully influence conversion, and the decision on whether to adopt the new page should be based on the A/B test results, which also show no significant difference.</a:t>
            </a:r>
            <a:endParaRPr sz="2000" b="1">
              <a:solidFill>
                <a:srgbClr val="FF0000"/>
              </a:solidFill>
              <a:highlight>
                <a:schemeClr val="lt1"/>
              </a:highlight>
              <a:latin typeface="Cambria"/>
              <a:ea typeface="Cambria"/>
              <a:cs typeface="Cambria"/>
              <a:sym typeface="Cambr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Words>
  <Application>Microsoft Macintosh PowerPoint</Application>
  <PresentationFormat>On-screen Show (16:9)</PresentationFormat>
  <Paragraphs>30</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Open Sans</vt:lpstr>
      <vt:lpstr>Arial</vt:lpstr>
      <vt:lpstr>Cambria</vt:lpstr>
      <vt:lpstr>Simple Light</vt:lpstr>
      <vt:lpstr>PowerPoint Presentation</vt:lpstr>
      <vt:lpstr>Instructor Kick-off</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Josh Bernhard</cp:lastModifiedBy>
  <cp:revision>2</cp:revision>
  <dcterms:modified xsi:type="dcterms:W3CDTF">2023-02-11T23:05:54Z</dcterms:modified>
</cp:coreProperties>
</file>